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4" r:id="rId9"/>
    <p:sldId id="262" r:id="rId10"/>
    <p:sldId id="266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138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5" name="Freeform: Shape 44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5818" y="0"/>
            <a:ext cx="7472363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46" name="Freeform: Shape 45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0"/>
            <a:ext cx="7461504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2" y="1999615"/>
            <a:ext cx="6858000" cy="2764028"/>
          </a:xfrm>
        </p:spPr>
        <p:txBody>
          <a:bodyPr anchor="ctr">
            <a:normAutofit/>
          </a:bodyPr>
          <a:lstStyle/>
          <a:p>
            <a:r>
              <a:rPr lang="en-IN" sz="6300" dirty="0"/>
              <a:t>Companies Analysis in India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5184" y="5645150"/>
            <a:ext cx="6193632" cy="631825"/>
          </a:xfrm>
        </p:spPr>
        <p:txBody>
          <a:bodyPr anchor="ctr">
            <a:normAutofit/>
          </a:bodyPr>
          <a:lstStyle/>
          <a:p>
            <a:r>
              <a:rPr lang="en-IN" sz="2800" dirty="0"/>
              <a:t>By Team FCT Worriers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88920" y="5524786"/>
            <a:ext cx="356616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0970" y="735635"/>
            <a:ext cx="6056111" cy="1618489"/>
          </a:xfrm>
        </p:spPr>
        <p:txBody>
          <a:bodyPr anchor="ctr">
            <a:normAutofit/>
          </a:bodyPr>
          <a:lstStyle/>
          <a:p>
            <a:r>
              <a:rPr lang="en-IN" sz="6300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2010" y="2466484"/>
            <a:ext cx="6056111" cy="2800395"/>
          </a:xfrm>
        </p:spPr>
        <p:txBody>
          <a:bodyPr anchor="t">
            <a:noAutofit/>
          </a:bodyPr>
          <a:lstStyle/>
          <a:p>
            <a:r>
              <a:rPr lang="en-US" sz="2800" dirty="0"/>
              <a:t>Objective: Analyze Indian companies, especially in the IT sector</a:t>
            </a:r>
          </a:p>
          <a:p>
            <a:r>
              <a:rPr lang="en-US" sz="2800" dirty="0"/>
              <a:t>Focus Areas:</a:t>
            </a:r>
          </a:p>
          <a:p>
            <a:pPr>
              <a:buFontTx/>
              <a:buChar char="-"/>
            </a:pPr>
            <a:r>
              <a:rPr lang="en-US" sz="2800" dirty="0"/>
              <a:t>Private vs Public company distribution</a:t>
            </a:r>
          </a:p>
          <a:p>
            <a:pPr>
              <a:buFontTx/>
              <a:buChar char="-"/>
            </a:pPr>
            <a:r>
              <a:rPr lang="en-US" sz="2800" dirty="0"/>
              <a:t>Top companies by reviews</a:t>
            </a:r>
          </a:p>
          <a:p>
            <a:pPr>
              <a:buFontTx/>
              <a:buChar char="-"/>
            </a:pPr>
            <a:r>
              <a:rPr lang="en-US" sz="2800" dirty="0"/>
              <a:t>Growth of the IT sector</a:t>
            </a:r>
          </a:p>
          <a:p>
            <a:pPr>
              <a:buFontTx/>
              <a:buChar char="-"/>
            </a:pPr>
            <a:r>
              <a:rPr lang="en-US" sz="2800" dirty="0"/>
              <a:t> Top Most Recognized Companies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457037" cy="1554480"/>
          </a:xfrm>
        </p:spPr>
        <p:txBody>
          <a:bodyPr anchor="ctr">
            <a:normAutofit/>
          </a:bodyPr>
          <a:lstStyle/>
          <a:p>
            <a:r>
              <a:rPr lang="en-IN" sz="4800" dirty="0"/>
              <a:t>Tools &amp;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3771" y="3017522"/>
            <a:ext cx="7455989" cy="3124658"/>
          </a:xfrm>
        </p:spPr>
        <p:txBody>
          <a:bodyPr anchor="ctr">
            <a:normAutofit/>
          </a:bodyPr>
          <a:lstStyle/>
          <a:p>
            <a:r>
              <a:rPr lang="en-US" sz="2800" dirty="0"/>
              <a:t>We use Excel Tools:</a:t>
            </a:r>
          </a:p>
          <a:p>
            <a:pPr>
              <a:buFont typeface="Calibri" panose="020F0502020204030204" pitchFamily="34" charset="0"/>
              <a:buChar char="⁻"/>
            </a:pPr>
            <a:r>
              <a:rPr lang="en-US" sz="2800" dirty="0"/>
              <a:t> Filtering &amp; grouping</a:t>
            </a:r>
          </a:p>
          <a:p>
            <a:pPr>
              <a:buFont typeface="Calibri" panose="020F0502020204030204" pitchFamily="34" charset="0"/>
              <a:buChar char="⁻"/>
            </a:pPr>
            <a:r>
              <a:rPr lang="en-US" sz="2800" dirty="0"/>
              <a:t> Chart Elements &amp; Labels</a:t>
            </a:r>
          </a:p>
          <a:p>
            <a:pPr>
              <a:buFont typeface="Calibri" panose="020F0502020204030204" pitchFamily="34" charset="0"/>
              <a:buChar char="⁻"/>
            </a:pPr>
            <a:r>
              <a:rPr lang="en-US" sz="2800" dirty="0"/>
              <a:t> Percentage Calculation</a:t>
            </a:r>
          </a:p>
          <a:p>
            <a:pPr>
              <a:buFont typeface="Calibri" panose="020F0502020204030204" pitchFamily="34" charset="0"/>
              <a:buChar char="⁻"/>
            </a:pPr>
            <a:r>
              <a:rPr lang="en-US" sz="2800" dirty="0"/>
              <a:t>Trend line to show IT Sector Growth Over Years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FB60E8C-7224-44A4-87A0-46A1711DD2E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824" y="574283"/>
            <a:ext cx="7606349" cy="7421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Most Demanding Companies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DA32751-37A2-45C0-BE94-63D375E2700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1" y="1998845"/>
            <a:ext cx="859094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graph with blue and white lines">
            <a:extLst>
              <a:ext uri="{FF2B5EF4-FFF2-40B4-BE49-F238E27FC236}">
                <a16:creationId xmlns:a16="http://schemas.microsoft.com/office/drawing/2014/main" id="{31C83382-C88B-DBE9-F2B0-361C97FF4F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2" y="2520393"/>
            <a:ext cx="5494087" cy="3118791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AD34E2C-74BC-FA20-4C70-4D85577DF39F}"/>
              </a:ext>
            </a:extLst>
          </p:cNvPr>
          <p:cNvSpPr txBox="1">
            <a:spLocks/>
          </p:cNvSpPr>
          <p:nvPr/>
        </p:nvSpPr>
        <p:spPr>
          <a:xfrm>
            <a:off x="5159481" y="2664324"/>
            <a:ext cx="3378040" cy="34611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IT Services &amp; Consulting is the most popular type of company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 Highest number of employees 10 Lakh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Other companies have minimal employee around 2-3 Lakh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55FBCD-CD42-40F5-8A1B-3203F9CAEEA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323318" y="2332075"/>
            <a:ext cx="781700" cy="1142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AD4B23-E83A-6FCE-6CB8-7ADFDA684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55EF5C-D17E-93B5-9673-EC3B3F74B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783" y="330739"/>
            <a:ext cx="3485178" cy="16245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000" dirty="0"/>
              <a:t>IT Companies in Indian States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F78A51-2E88-B548-B141-0ACC949B9804}"/>
              </a:ext>
            </a:extLst>
          </p:cNvPr>
          <p:cNvSpPr txBox="1"/>
          <p:nvPr/>
        </p:nvSpPr>
        <p:spPr>
          <a:xfrm>
            <a:off x="571351" y="2743200"/>
            <a:ext cx="3823668" cy="36131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Maharashtra  has the most IT companies (31.58%)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Karnataka is next (15.79%)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Uttar Pradesh has 10.53%, other states have less</a:t>
            </a:r>
          </a:p>
        </p:txBody>
      </p:sp>
      <p:pic>
        <p:nvPicPr>
          <p:cNvPr id="6" name="Content Placeholder 5" descr="A map of india with different colored areas&#10;&#10;AI-generated content may be incorrect.">
            <a:extLst>
              <a:ext uri="{FF2B5EF4-FFF2-40B4-BE49-F238E27FC236}">
                <a16:creationId xmlns:a16="http://schemas.microsoft.com/office/drawing/2014/main" id="{9ECF95CB-5B3A-30C5-3042-196634FF37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3"/>
          <a:stretch>
            <a:fillRect/>
          </a:stretch>
        </p:blipFill>
        <p:spPr>
          <a:xfrm>
            <a:off x="4201770" y="-80769"/>
            <a:ext cx="4631024" cy="6938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8245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9E3519E-91C0-AD9D-1298-4B3130D68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798" y="525982"/>
            <a:ext cx="3212237" cy="1200361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3600" kern="1200" dirty="0">
                <a:latin typeface="+mj-lt"/>
                <a:ea typeface="+mj-ea"/>
                <a:cs typeface="+mj-cs"/>
              </a:rPr>
              <a:t>Comparison of Companies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2399" y="1944913"/>
            <a:ext cx="301752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883" y="2031101"/>
            <a:ext cx="3555866" cy="3511943"/>
          </a:xfrm>
        </p:spPr>
        <p:txBody>
          <a:bodyPr anchor="ctr">
            <a:normAutofit/>
          </a:bodyPr>
          <a:lstStyle/>
          <a:p>
            <a:r>
              <a:rPr lang="en-US" sz="2400" dirty="0"/>
              <a:t> Public vs Private Companies:</a:t>
            </a:r>
          </a:p>
          <a:p>
            <a:r>
              <a:rPr lang="en-US" sz="2400" dirty="0"/>
              <a:t>   - Public: 739 offices</a:t>
            </a:r>
          </a:p>
          <a:p>
            <a:r>
              <a:rPr lang="en-US" sz="2400" dirty="0"/>
              <a:t>   - Private: 501 offices</a:t>
            </a:r>
          </a:p>
          <a:p>
            <a:endParaRPr lang="en-US" sz="24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61965" y="6072626"/>
            <a:ext cx="740664" cy="11559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336109" y="1694387"/>
            <a:ext cx="740664" cy="887511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72594" y="354959"/>
            <a:ext cx="4638730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6EAC857B-B222-A489-91A7-F15B546B73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9" y="1436989"/>
            <a:ext cx="4221014" cy="27647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66E48AFA-8884-4F68-A44F-D2C1E8609C5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6683" y="4019631"/>
            <a:ext cx="2986391" cy="221651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Growth of IT Sector </a:t>
            </a:r>
            <a:r>
              <a:rPr lang="en-US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1999-2017</a:t>
            </a:r>
            <a:endParaRPr lang="en-US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6" name="Arc 25">
            <a:extLst>
              <a:ext uri="{FF2B5EF4-FFF2-40B4-BE49-F238E27FC236}">
                <a16:creationId xmlns:a16="http://schemas.microsoft.com/office/drawing/2014/main" id="{969D19A6-08CB-498C-93EC-3FFB021FC68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269068">
            <a:off x="6164896" y="3712762"/>
            <a:ext cx="2987899" cy="2240924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Content Placeholder 6" descr="A graph with a blue line">
            <a:extLst>
              <a:ext uri="{FF2B5EF4-FFF2-40B4-BE49-F238E27FC236}">
                <a16:creationId xmlns:a16="http://schemas.microsoft.com/office/drawing/2014/main" id="{8BD69316-5E47-CD54-C493-3C39B81DF0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5163" y="704504"/>
            <a:ext cx="7393673" cy="2957472"/>
          </a:xfrm>
          <a:custGeom>
            <a:avLst/>
            <a:gdLst/>
            <a:ahLst/>
            <a:cxnLst/>
            <a:rect l="l" t="t" r="r" b="b"/>
            <a:pathLst>
              <a:path w="10580201" h="2957472">
                <a:moveTo>
                  <a:pt x="88961" y="0"/>
                </a:moveTo>
                <a:lnTo>
                  <a:pt x="10491240" y="0"/>
                </a:lnTo>
                <a:cubicBezTo>
                  <a:pt x="10540372" y="0"/>
                  <a:pt x="10580201" y="39829"/>
                  <a:pt x="10580201" y="88961"/>
                </a:cubicBezTo>
                <a:lnTo>
                  <a:pt x="10580201" y="2868511"/>
                </a:lnTo>
                <a:cubicBezTo>
                  <a:pt x="10580201" y="2917643"/>
                  <a:pt x="10540372" y="2957472"/>
                  <a:pt x="10491240" y="2957472"/>
                </a:cubicBezTo>
                <a:lnTo>
                  <a:pt x="88961" y="2957472"/>
                </a:lnTo>
                <a:cubicBezTo>
                  <a:pt x="39829" y="2957472"/>
                  <a:pt x="0" y="2917643"/>
                  <a:pt x="0" y="2868511"/>
                </a:cubicBezTo>
                <a:lnTo>
                  <a:pt x="0" y="88961"/>
                </a:lnTo>
                <a:cubicBezTo>
                  <a:pt x="0" y="39829"/>
                  <a:pt x="39829" y="0"/>
                  <a:pt x="88961" y="0"/>
                </a:cubicBezTo>
                <a:close/>
              </a:path>
            </a:pathLst>
          </a:cu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FE045AD-2F7F-A506-FCE0-2A9F00BC1913}"/>
              </a:ext>
            </a:extLst>
          </p:cNvPr>
          <p:cNvSpPr txBox="1"/>
          <p:nvPr/>
        </p:nvSpPr>
        <p:spPr>
          <a:xfrm>
            <a:off x="3352205" y="4099619"/>
            <a:ext cx="5152697" cy="128264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In 2000, IT growth was the highest 41%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After 2000, growth was lower, around 11%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In 2017, growth increased again to 17%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BDFFCB-4D0F-A85F-3011-AAC2AFB06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DC5D57E-9D68-F246-5BCD-047B63505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540" y="846519"/>
            <a:ext cx="2591866" cy="1616203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l" defTabSz="914400">
              <a:lnSpc>
                <a:spcPct val="90000"/>
              </a:lnSpc>
            </a:pP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Top Companies in IT </a:t>
            </a:r>
            <a:r>
              <a:rPr lang="en-US" sz="3600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Services Based </a:t>
            </a:r>
            <a:r>
              <a:rPr lang="en-US" sz="3600" dirty="0"/>
              <a:t>O</a:t>
            </a:r>
            <a:r>
              <a:rPr lang="en-US" sz="3600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 </a:t>
            </a:r>
            <a:r>
              <a:rPr lang="en-US" sz="3600" dirty="0"/>
              <a:t>R</a:t>
            </a:r>
            <a:r>
              <a:rPr lang="en-US" sz="3600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eviews</a:t>
            </a:r>
            <a:endParaRPr lang="en-US" sz="3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468A97-8D70-0A47-4773-6ACFC06F9C4F}"/>
              </a:ext>
            </a:extLst>
          </p:cNvPr>
          <p:cNvSpPr txBox="1"/>
          <p:nvPr/>
        </p:nvSpPr>
        <p:spPr>
          <a:xfrm>
            <a:off x="630090" y="3112596"/>
            <a:ext cx="2860765" cy="34478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Accenture has 36,000 </a:t>
            </a:r>
            <a:r>
              <a:rPr lang="en-US" sz="2800" dirty="0" smtClean="0"/>
              <a:t>reviews</a:t>
            </a:r>
            <a:endParaRPr lang="en-US" sz="28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Cognizant has 33,000. Wipro and Infosys follow</a:t>
            </a:r>
          </a:p>
        </p:txBody>
      </p:sp>
      <p:pic>
        <p:nvPicPr>
          <p:cNvPr id="10" name="Content Placeholder 9" descr="A colorful circle with numbers and numbers&#10;&#10;AI-generated content may be incorrect.">
            <a:extLst>
              <a:ext uri="{FF2B5EF4-FFF2-40B4-BE49-F238E27FC236}">
                <a16:creationId xmlns:a16="http://schemas.microsoft.com/office/drawing/2014/main" id="{79E945EE-E737-153B-4E0A-930CBA9D71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40754" y="1654621"/>
            <a:ext cx="4792009" cy="3558068"/>
          </a:xfrm>
          <a:prstGeom prst="rect">
            <a:avLst/>
          </a:prstGeom>
        </p:spPr>
      </p:pic>
      <p:grpSp>
        <p:nvGrpSpPr>
          <p:cNvPr id="52" name="Group 51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051478" y="0"/>
            <a:ext cx="92522" cy="6858000"/>
            <a:chOff x="12068638" y="0"/>
            <a:chExt cx="123362" cy="6858000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616533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56047" y="1198418"/>
            <a:ext cx="3181501" cy="4461163"/>
          </a:xfrm>
        </p:spPr>
        <p:txBody>
          <a:bodyPr>
            <a:normAutofit/>
          </a:bodyPr>
          <a:lstStyle/>
          <a:p>
            <a:r>
              <a:rPr lang="en-IN" sz="3600" dirty="0">
                <a:solidFill>
                  <a:srgbClr val="FFFFFF"/>
                </a:solidFill>
              </a:rPr>
              <a:t>Conclusion </a:t>
            </a:r>
            <a:br>
              <a:rPr lang="en-IN" sz="3600" dirty="0">
                <a:solidFill>
                  <a:srgbClr val="FFFFFF"/>
                </a:solidFill>
              </a:rPr>
            </a:br>
            <a:r>
              <a:rPr lang="en-IN" sz="3600" dirty="0">
                <a:solidFill>
                  <a:srgbClr val="FFFFFF"/>
                </a:solidFill>
              </a:rPr>
              <a:t>&amp; </a:t>
            </a:r>
            <a:br>
              <a:rPr lang="en-IN" sz="3600" dirty="0">
                <a:solidFill>
                  <a:srgbClr val="FFFFFF"/>
                </a:solidFill>
              </a:rPr>
            </a:br>
            <a:r>
              <a:rPr lang="en-IN" sz="3600" dirty="0">
                <a:solidFill>
                  <a:srgbClr val="FFFFFF"/>
                </a:solidFill>
              </a:rPr>
              <a:t>Future Improvement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 dirty="0"/>
              <a:t>Conclusions: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400" dirty="0"/>
              <a:t>  - Public companies have more offices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400" dirty="0"/>
              <a:t>  - Accenture and Cognizant are top-reviewed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400" dirty="0"/>
              <a:t>- IT industry shows steady growth</a:t>
            </a:r>
          </a:p>
          <a:p>
            <a:pPr>
              <a:lnSpc>
                <a:spcPct val="90000"/>
              </a:lnSpc>
            </a:pPr>
            <a:endParaRPr lang="en-US" sz="2400" dirty="0"/>
          </a:p>
          <a:p>
            <a:pPr>
              <a:lnSpc>
                <a:spcPct val="90000"/>
              </a:lnSpc>
            </a:pPr>
            <a:r>
              <a:rPr lang="en-US" sz="2400" dirty="0"/>
              <a:t>Future Improvements:</a:t>
            </a:r>
          </a:p>
          <a:p>
            <a:pPr>
              <a:lnSpc>
                <a:spcPct val="90000"/>
              </a:lnSpc>
              <a:buFont typeface="Calibri" panose="020F0502020204030204" pitchFamily="34" charset="0"/>
              <a:buChar char="⁻"/>
            </a:pPr>
            <a:r>
              <a:rPr lang="en-US" sz="2400" dirty="0"/>
              <a:t>Include salary and financial data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400" dirty="0"/>
              <a:t>Use Power BI for live dashboards</a:t>
            </a:r>
          </a:p>
          <a:p>
            <a:pPr>
              <a:lnSpc>
                <a:spcPct val="90000"/>
              </a:lnSpc>
              <a:buFontTx/>
              <a:buChar char="-"/>
            </a:pPr>
            <a:r>
              <a:rPr lang="en-US" sz="2400" dirty="0"/>
              <a:t>Gather real employee feedback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5818" y="0"/>
            <a:ext cx="7472363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0"/>
            <a:ext cx="7461504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64DC5E-B228-C8C0-4CCB-0D3B2897C0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2" y="1999615"/>
            <a:ext cx="6858000" cy="2764028"/>
          </a:xfrm>
        </p:spPr>
        <p:txBody>
          <a:bodyPr anchor="ctr">
            <a:normAutofit/>
          </a:bodyPr>
          <a:lstStyle/>
          <a:p>
            <a:r>
              <a:rPr lang="en-IN" sz="6600" dirty="0"/>
              <a:t>THANK YOU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88920" y="5524786"/>
            <a:ext cx="356616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9323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247</Words>
  <Application>Microsoft Office PowerPoint</Application>
  <PresentationFormat>On-screen Show (4:3)</PresentationFormat>
  <Paragraphs>45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Companies Analysis in India</vt:lpstr>
      <vt:lpstr>Introduction</vt:lpstr>
      <vt:lpstr>Tools &amp; Techniques</vt:lpstr>
      <vt:lpstr>Most Demanding Companies</vt:lpstr>
      <vt:lpstr>IT Companies in Indian States</vt:lpstr>
      <vt:lpstr>Comparison of Companies</vt:lpstr>
      <vt:lpstr>Growth of IT Sector 1999-2017</vt:lpstr>
      <vt:lpstr>Top Companies in IT Services Based On Reviews</vt:lpstr>
      <vt:lpstr>Conclusion  &amp;  Future Improvement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Companies Analysis in India</dc:title>
  <dc:subject/>
  <dc:creator>Sahil Patil</dc:creator>
  <cp:keywords/>
  <dc:description>generated using python-pptx</dc:description>
  <cp:lastModifiedBy>User</cp:lastModifiedBy>
  <cp:revision>11</cp:revision>
  <dcterms:created xsi:type="dcterms:W3CDTF">2013-01-27T09:14:16Z</dcterms:created>
  <dcterms:modified xsi:type="dcterms:W3CDTF">2025-07-25T14:25:03Z</dcterms:modified>
  <cp:category/>
</cp:coreProperties>
</file>